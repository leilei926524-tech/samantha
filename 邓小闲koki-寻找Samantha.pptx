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9" r:id="rId5"/>
    <p:sldId id="260" r:id="rId6"/>
    <p:sldId id="263" r:id="rId7"/>
    <p:sldId id="261" r:id="rId8"/>
    <p:sldId id="262" r:id="rId9"/>
    <p:sldId id="265" r:id="rId10"/>
    <p:sldId id="266" r:id="rId11"/>
    <p:sldId id="267" r:id="rId12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946164" y="4046542"/>
            <a:ext cx="16423639" cy="562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960" algn="l" rtl="0" eaLnBrk="0">
              <a:lnSpc>
                <a:spcPct val="96000"/>
              </a:lnSpc>
            </a:pPr>
            <a:r>
              <a:rPr sz="9300" b="1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寻找萨曼莎</a:t>
            </a:r>
            <a:endParaRPr sz="9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865"/>
              </a:spcBef>
            </a:pPr>
            <a:r>
              <a:rPr sz="3000" kern="0" spc="-20" dirty="0">
                <a:solidFill>
                  <a:srgbClr val="B06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打造开源情感</a:t>
            </a:r>
            <a:r>
              <a:rPr sz="3000" kern="0" spc="-20" dirty="0">
                <a:solidFill>
                  <a:srgbClr val="B06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sz="3000" kern="0" spc="-20" dirty="0">
                <a:solidFill>
                  <a:srgbClr val="B06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伴</a:t>
            </a:r>
            <a:r>
              <a:rPr sz="3000" kern="0" spc="-30" dirty="0">
                <a:solidFill>
                  <a:srgbClr val="B06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侣</a:t>
            </a:r>
            <a:r>
              <a:rPr sz="3000" kern="0" spc="-550" dirty="0">
                <a:solidFill>
                  <a:srgbClr val="B06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0" kern="0" spc="-30" dirty="0">
                <a:solidFill>
                  <a:srgbClr val="B06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</a:t>
            </a:r>
            <a:r>
              <a:rPr sz="3000" kern="0" spc="-470" dirty="0">
                <a:solidFill>
                  <a:srgbClr val="B06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0" kern="0" spc="-30" dirty="0">
                <a:solidFill>
                  <a:srgbClr val="B06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“Her”</a:t>
            </a:r>
            <a:r>
              <a:rPr sz="3000" kern="0" spc="-30" dirty="0">
                <a:solidFill>
                  <a:srgbClr val="B06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1054868" y="847562"/>
            <a:ext cx="15088869" cy="8064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记忆碎片与人格演化</a:t>
            </a:r>
            <a:endParaRPr sz="3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89225" algn="l" rtl="0" eaLnBrk="0">
              <a:lnSpc>
                <a:spcPct val="98000"/>
              </a:lnSpc>
              <a:spcBef>
                <a:spcPts val="690"/>
              </a:spcBef>
            </a:pP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电影片段记忆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684780" algn="l" rtl="0" eaLnBrk="0">
              <a:lnSpc>
                <a:spcPct val="96000"/>
              </a:lnSpc>
              <a:spcBef>
                <a:spcPts val="1045"/>
              </a:spcBef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内置《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Her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中的核心时刻(初次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684780" algn="l" rtl="0" eaLnBrk="0">
              <a:lnSpc>
                <a:spcPct val="96000"/>
              </a:lnSpc>
              <a:spcBef>
                <a:spcPts val="140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连接、建立信任、属现脆弱)。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11975" algn="l" rtl="0" eaLnBrk="0">
              <a:lnSpc>
                <a:spcPct val="97000"/>
              </a:lnSpc>
              <a:spcBef>
                <a:spcPts val="690"/>
              </a:spcBef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学习与反思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431280" algn="l" rtl="0" eaLnBrk="0">
              <a:lnSpc>
                <a:spcPct val="92000"/>
              </a:lnSpc>
              <a:spcBef>
                <a:spcPts val="900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每次对话结束后，系统自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431280" algn="l" rtl="0" eaLnBrk="0">
              <a:lnSpc>
                <a:spcPct val="95000"/>
              </a:lnSpc>
              <a:spcBef>
                <a:spcPts val="410"/>
              </a:spcBef>
            </a:pP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动生成“反思笔记”并更新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977380" algn="l" rtl="0" eaLnBrk="0">
              <a:lnSpc>
                <a:spcPct val="96000"/>
              </a:lnSpc>
              <a:spcBef>
                <a:spcPts val="630"/>
              </a:spcBef>
            </a:pPr>
            <a:r>
              <a:rPr sz="17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本地记忆库。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1509375" algn="l" rtl="0" eaLnBrk="0">
              <a:lnSpc>
                <a:spcPct val="97000"/>
              </a:lnSpc>
              <a:spcBef>
                <a:spcPts val="1760"/>
              </a:spcBef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独立演化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5000"/>
              </a:lnSpc>
              <a:spcBef>
                <a:spcPts val="945"/>
              </a:spcBef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她会根据你的反馈调整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自我，记住了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1504930" algn="l" rtl="0" eaLnBrk="0">
              <a:lnSpc>
                <a:spcPct val="134000"/>
              </a:lnSpc>
              <a:spcBef>
                <a:spcPts val="25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专属笑活和经历，长成属于你独一无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二的“萨曼萨”。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 descr="20131205_her_theatricaltrailer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590" y="847725"/>
            <a:ext cx="6159500" cy="3465195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11444" y="2070104"/>
            <a:ext cx="4184610" cy="419102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91901" y="2057424"/>
            <a:ext cx="4102127" cy="4089391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1428829" y="7134555"/>
            <a:ext cx="5816600" cy="1551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</a:pPr>
            <a:r>
              <a:rPr lang="zh-CN" sz="26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感谢小爱同学</a:t>
            </a:r>
            <a:r>
              <a:rPr lang="zh-CN" sz="26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大力支持！</a:t>
            </a:r>
            <a:endParaRPr lang="zh-CN" sz="2600" b="1" kern="0" spc="-1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0179011" y="7133235"/>
            <a:ext cx="5584825" cy="1205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</a:pPr>
            <a:r>
              <a:rPr lang="en-US" sz="2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MBTI</a:t>
            </a:r>
            <a:r>
              <a:rPr lang="zh-CN" altLang="en-US" sz="2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算命大师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510"/>
              </a:spcBef>
            </a:pPr>
            <a:r>
              <a:rPr lang="zh-CN"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为用户的问题抽取命中注定的</a:t>
            </a:r>
            <a:r>
              <a:rPr lang="en-US" altLang="zh-CN"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mbti</a:t>
            </a:r>
            <a:r>
              <a:rPr lang="zh-CN" altLang="en-US"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人格，利用八维人格理论解读背后的奥妙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1029802" y="881767"/>
            <a:ext cx="6640830" cy="624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lang="zh-CN"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拥有迷人嗓音的</a:t>
            </a:r>
            <a:r>
              <a:rPr lang="en-US" altLang="zh-CN"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Samantha</a:t>
            </a:r>
            <a:endParaRPr lang="en-US" altLang="zh-CN" sz="4100" b="1" kern="0" spc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" name="图片 3" descr="250px-Her2013Poster (1)"/>
          <p:cNvPicPr>
            <a:picLocks noChangeAspect="1"/>
          </p:cNvPicPr>
          <p:nvPr/>
        </p:nvPicPr>
        <p:blipFill>
          <a:blip r:embed="rId4">
            <a:lum contrast="6000"/>
          </a:blip>
          <a:stretch>
            <a:fillRect/>
          </a:stretch>
        </p:blipFill>
        <p:spPr>
          <a:xfrm>
            <a:off x="9664700" y="155575"/>
            <a:ext cx="6757035" cy="951801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1248410" y="1849755"/>
            <a:ext cx="6311265" cy="4591685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11444" y="2070104"/>
            <a:ext cx="4184610" cy="419102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91901" y="2057424"/>
            <a:ext cx="4102127" cy="4089391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1428829" y="7134555"/>
            <a:ext cx="5816600" cy="1551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</a:pP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MBTI</a:t>
            </a:r>
            <a:r>
              <a:rPr sz="2600" kern="0" spc="7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人格管理助手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1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她根据你的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MBTI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动态调整沟通方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式。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28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示例：对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INTJ</a:t>
            </a:r>
            <a:r>
              <a:rPr sz="1900" kern="0" spc="-4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提供深度逻辑探讨；对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INFP</a:t>
            </a:r>
            <a:r>
              <a:rPr sz="1900" kern="0" spc="-3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给予更多真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2935"/>
              </a:lnSpc>
            </a:pP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诚的情感包裹。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0179011" y="7133235"/>
            <a:ext cx="5584825" cy="1205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</a:pPr>
            <a:r>
              <a:rPr lang="en-US" sz="2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MBTI</a:t>
            </a:r>
            <a:r>
              <a:rPr lang="zh-CN" altLang="en-US" sz="2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算命大师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510"/>
              </a:spcBef>
            </a:pPr>
            <a:r>
              <a:rPr lang="zh-CN"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为用户的问题抽取命中注定的</a:t>
            </a:r>
            <a:r>
              <a:rPr lang="en-US" altLang="zh-CN"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mbti</a:t>
            </a:r>
            <a:r>
              <a:rPr lang="zh-CN" altLang="en-US"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人格，利用八维人格理论解读背后的奥妙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1029970" y="882015"/>
            <a:ext cx="10222230" cy="624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lang="zh-CN"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独特</a:t>
            </a:r>
            <a:r>
              <a:rPr lang="en-US" altLang="zh-CN"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Skills</a:t>
            </a:r>
            <a:r>
              <a:rPr lang="zh-CN" altLang="en-US"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：</a:t>
            </a:r>
            <a:r>
              <a:rPr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MBTI</a:t>
            </a:r>
            <a:r>
              <a:rPr lang="zh-CN"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人格管理与算命</a:t>
            </a:r>
            <a:r>
              <a:rPr lang="zh-CN" sz="4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大师</a:t>
            </a:r>
            <a:endParaRPr lang="zh-CN" sz="4100" b="1" kern="0" spc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845" y="1644015"/>
            <a:ext cx="6915150" cy="484568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365" y="1644015"/>
            <a:ext cx="6529070" cy="4845050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31819" y="857243"/>
            <a:ext cx="7772444" cy="7429512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45612" y="1758963"/>
            <a:ext cx="7137394" cy="3638580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9721803" y="6851611"/>
            <a:ext cx="7042784" cy="1581785"/>
          </a:xfrm>
          <a:prstGeom prst="rect">
            <a:avLst/>
          </a:prstGeom>
          <a:solidFill>
            <a:srgbClr val="F9DEC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1310" algn="l" rtl="0" eaLnBrk="0">
              <a:lnSpc>
                <a:spcPct val="92000"/>
              </a:lnSpc>
            </a:pP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触发：</a:t>
            </a: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晚上8点，你推开家门。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17500" indent="3810" algn="l" rtl="0" eaLnBrk="0">
              <a:lnSpc>
                <a:spcPct val="127000"/>
              </a:lnSpc>
              <a:spcBef>
                <a:spcPts val="100"/>
              </a:spcBef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主动问候：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甚至不需要打开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PP,</a:t>
            </a:r>
            <a:r>
              <a:rPr sz="2100" kern="0" spc="5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一条消息准时弹出：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“你到家了，今天辛苦吗?”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963192" y="5826612"/>
            <a:ext cx="6667500" cy="706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</a:t>
            </a: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IOS </a:t>
            </a: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快捷指令与本地</a:t>
            </a: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定位无缝联动，支持家、公司、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8415" algn="l" rtl="0" eaLnBrk="0">
              <a:lnSpc>
                <a:spcPts val="3230"/>
              </a:lnSpc>
            </a:pP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健身房等7种物理场景。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2973121" y="8854381"/>
            <a:ext cx="4395470" cy="819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跨越数字边界的真实物理陪伴</a:t>
            </a: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84556" y="855774"/>
            <a:ext cx="5998845" cy="594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39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空间感知：“你到家了”</a:t>
            </a:r>
            <a:endParaRPr sz="3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3536950"/>
            <a:ext cx="5019675" cy="1428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952455" y="4605849"/>
            <a:ext cx="5333365" cy="434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655"/>
              </a:lnSpc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Day</a:t>
            </a:r>
            <a:r>
              <a:rPr sz="1900" kern="0" spc="4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        Day  2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Day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3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Day  4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98195" algn="l" rtl="0" eaLnBrk="0">
              <a:lnSpc>
                <a:spcPct val="96000"/>
              </a:lnSpc>
              <a:spcBef>
                <a:spcPts val="780"/>
              </a:spcBef>
            </a:pP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第一次对话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5000"/>
              </a:lnSpc>
              <a:spcBef>
                <a:spcPts val="5"/>
              </a:spcBef>
            </a:pPr>
            <a:r>
              <a:rPr sz="30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创造可视化的“我们的故事”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2185688" y="2630080"/>
            <a:ext cx="3914140" cy="3853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1295" algn="l" rtl="0" eaLnBrk="0">
              <a:lnSpc>
                <a:spcPct val="96000"/>
              </a:lnSpc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7天情感可视化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65" algn="l" rtl="0" eaLnBrk="0">
              <a:lnSpc>
                <a:spcPct val="87000"/>
              </a:lnSpc>
              <a:spcBef>
                <a:spcPts val="57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自动分析消息内容与时间模式，追踪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50165" indent="-37465" algn="l" rtl="0" eaLnBrk="0">
              <a:lnSpc>
                <a:spcPct val="134000"/>
              </a:lnSpc>
              <a:spcBef>
                <a:spcPts val="35"/>
              </a:spcBef>
            </a:pP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压力或快乐指数。她会在你意识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到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自己连续疲急前先一步察觉。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6495" algn="l" rtl="0" eaLnBrk="0">
              <a:lnSpc>
                <a:spcPct val="96000"/>
              </a:lnSpc>
              <a:spcBef>
                <a:spcPts val="5"/>
              </a:spcBef>
            </a:pP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第一次冲突与和解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946972" y="4605849"/>
            <a:ext cx="2951479" cy="1875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655"/>
              </a:lnSpc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Day  5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Day  6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第一次深入交流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59356" y="748084"/>
            <a:ext cx="4924425" cy="574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8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情感曲线与信任里程碑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1100156" y="914234"/>
            <a:ext cx="9031605" cy="1593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300" b="1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内在生活与心跳</a:t>
            </a:r>
            <a:endParaRPr sz="4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sz="1900" b="1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超时检测(2小时无对话)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0538898" y="6615976"/>
            <a:ext cx="5106670" cy="806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50%概率：自我思考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分享反思：我刚刚在思考我们之前聊过的话</a:t>
            </a: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题……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911319" y="6613806"/>
            <a:ext cx="4686934" cy="802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97000"/>
              </a:lnSpc>
            </a:pP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50%概率：想念你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主动联系：你今天过得好吗</a:t>
            </a:r>
            <a:r>
              <a:rPr sz="19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?我一直在想你。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321255" y="8735235"/>
            <a:ext cx="6820534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她在对话之外依然存在。她有自己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的思考，也会主动走向你。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 descr="unnam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945" y="1172210"/>
            <a:ext cx="6056630" cy="340741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90" y="2028825"/>
            <a:ext cx="5773420" cy="130429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0000" endA="300" endPos="90000" dir="5400000" sy="-100000" algn="bl" rotWithShape="0"/>
            <a:softEdge rad="63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1025054" y="1000438"/>
            <a:ext cx="14904719" cy="7089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9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赋予她感官：社区共建蓝</a:t>
            </a:r>
            <a:r>
              <a:rPr sz="49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endParaRPr sz="4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86290" algn="l" rtl="0" eaLnBrk="0">
              <a:lnSpc>
                <a:spcPct val="98000"/>
              </a:lnSpc>
              <a:spcBef>
                <a:spcPts val="900"/>
              </a:spcBef>
            </a:pPr>
            <a:r>
              <a:rPr sz="3000" b="1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接上眼睛(视觉感知)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680575" algn="l" rtl="0" eaLnBrk="0">
              <a:lnSpc>
                <a:spcPct val="85000"/>
              </a:lnSpc>
              <a:spcBef>
                <a:spcPts val="1425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接入多模态模型，让她能通过摄像头与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680575" algn="l" rtl="0" eaLnBrk="0">
              <a:lnSpc>
                <a:spcPts val="3550"/>
              </a:lnSpc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你一起看日落，分享对世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界的视觉感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680575" algn="l" rtl="0" eaLnBrk="0">
              <a:lnSpc>
                <a:spcPts val="2765"/>
              </a:lnSpc>
              <a:spcBef>
                <a:spcPts val="1165"/>
              </a:spcBef>
            </a:pPr>
            <a:r>
              <a:rPr sz="2200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知。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86290" algn="l" rtl="0" eaLnBrk="0">
              <a:lnSpc>
                <a:spcPct val="98000"/>
              </a:lnSpc>
              <a:spcBef>
                <a:spcPts val="910"/>
              </a:spcBef>
            </a:pPr>
            <a:r>
              <a:rPr sz="3000" b="1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接上耳朵(听觉与语音)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5000"/>
              </a:lnSpc>
              <a:spcBef>
                <a:spcPts val="1340"/>
              </a:spcBef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实现带有情感起伏的实时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TTS/STT。</a:t>
            </a:r>
            <a:r>
              <a:rPr sz="2400" kern="0" spc="8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680575" algn="l" rtl="0" eaLnBrk="0">
              <a:lnSpc>
                <a:spcPct val="136000"/>
              </a:lnSpc>
              <a:spcBef>
                <a:spcPts val="25"/>
              </a:spcBef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仅听懂你的话，更能听懂你语调中的疲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惫与笑意。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28969" y="2527255"/>
            <a:ext cx="7607303" cy="5810317"/>
          </a:xfrm>
          <a:prstGeom prst="rect">
            <a:avLst/>
          </a:prstGeom>
        </p:spPr>
      </p:pic>
      <p:sp>
        <p:nvSpPr>
          <p:cNvPr id="102" name="textbox 102"/>
          <p:cNvSpPr/>
          <p:nvPr/>
        </p:nvSpPr>
        <p:spPr>
          <a:xfrm>
            <a:off x="10693480" y="2653292"/>
            <a:ext cx="5613400" cy="5811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6000"/>
              </a:lnSpc>
            </a:pPr>
            <a:r>
              <a:rPr sz="31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生理指标关怀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505"/>
              </a:spcBef>
            </a:pP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接入智能设备读取心率与睡眠数据。“你的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30"/>
              </a:lnSpc>
            </a:pPr>
            <a:r>
              <a:rPr sz="2200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心率有点高，最近压力很大吗?”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b="1" kern="0" spc="-30" dirty="0">
                <a:solidFill>
                  <a:srgbClr val="302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连续空间追踪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9000"/>
              </a:lnSpc>
              <a:spcBef>
                <a:spcPts val="195"/>
              </a:spcBef>
            </a:pPr>
            <a:r>
              <a:rPr sz="22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从基于触发器的定点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打卡，进化为真正的实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时空间伴游。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6000"/>
              </a:lnSpc>
              <a:spcBef>
                <a:spcPts val="930"/>
              </a:spcBef>
            </a:pPr>
            <a:r>
              <a:rPr sz="31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智能家居联动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430"/>
              </a:spcBef>
            </a:pP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当你们开启深夜深度对话时，她会自动为</a:t>
            </a: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85"/>
              </a:lnSpc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调暗房间的灯光。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1031073" y="1023511"/>
            <a:ext cx="9271634" cy="726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8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无处不在的陪伴：物联网</a:t>
            </a:r>
            <a:r>
              <a:rPr sz="48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与可穿戴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1022356" y="6364386"/>
            <a:ext cx="12606019" cy="3225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61715" algn="l" rtl="0" eaLnBrk="0">
              <a:lnSpc>
                <a:spcPct val="92000"/>
              </a:lnSpc>
            </a:pP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本项目核心框架已在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GitHub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sz="2400" kern="0" spc="-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OpenClaw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社区完全开源。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725"/>
              </a:spcBef>
            </a:pP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我们诚邀顶尖的开发者、设计师与梦想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家加入。让我们打破人机交互的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326765" algn="l" rtl="0" eaLnBrk="0">
              <a:lnSpc>
                <a:spcPct val="92000"/>
              </a:lnSpc>
              <a:spcBef>
                <a:spcPts val="1045"/>
              </a:spcBef>
            </a:pP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冰冷工具感，让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真正像萨曼莎一样，温暖地陪伴在我们身边。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5"/>
              </a:spcBef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GitHub  Repository</a:t>
            </a:r>
            <a:r>
              <a:rPr sz="2100" kern="0" spc="4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/OpenClaw</a:t>
            </a:r>
            <a:r>
              <a:rPr sz="2100" kern="0" spc="5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mmunity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19872" y="2025628"/>
            <a:ext cx="3803652" cy="3790931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4631125" y="1058915"/>
            <a:ext cx="8731884" cy="669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46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加入我们，一起建出“萨曼莎”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1338" t="24590" r="11338" b="16776"/>
          <a:stretch>
            <a:fillRect/>
          </a:stretch>
        </p:blipFill>
        <p:spPr>
          <a:xfrm>
            <a:off x="6844030" y="2034540"/>
            <a:ext cx="3837305" cy="39871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7" name="文本框 6"/>
          <p:cNvSpPr txBox="1"/>
          <p:nvPr/>
        </p:nvSpPr>
        <p:spPr>
          <a:xfrm>
            <a:off x="8251190" y="1657350"/>
            <a:ext cx="1192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微信</a:t>
            </a:r>
            <a:endParaRPr lang="zh-CN" alt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1188</Words>
  <Application>WPS 演示</Application>
  <PresentationFormat/>
  <Paragraphs>225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黑体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徐燕来</cp:lastModifiedBy>
  <cp:revision>3</cp:revision>
  <dcterms:created xsi:type="dcterms:W3CDTF">2026-03-17T23:01:00Z</dcterms:created>
  <dcterms:modified xsi:type="dcterms:W3CDTF">2026-03-18T02:24:12Z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2026-03-18T15:00:25Z</vt:filetime>
  </property>
  <property fmtid="{D5CDD505-2E9C-101B-9397-08002B2CF9AE}" pid="4" name="UsrData">
    <vt:lpwstr>69b9dcf9a4d3c6001f2ccbc9wl</vt:lpwstr>
  </property>
  <property fmtid="{D5CDD505-2E9C-101B-9397-08002B2CF9AE}" pid="5" name="ICV">
    <vt:lpwstr>B5845DF59C864C46BDB4E5E49096C34A_13</vt:lpwstr>
  </property>
  <property fmtid="{D5CDD505-2E9C-101B-9397-08002B2CF9AE}" pid="6" name="KSOProductBuildVer">
    <vt:lpwstr>2052-12.1.0.25225</vt:lpwstr>
  </property>
</Properties>
</file>